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284C7"/>
                </a:solidFill>
              </a:defRPr>
            </a:pPr>
            <a:r>
              <a:t>AMITY HACKATHON 2026 · TEAM ID: A132 · BILLAUTA GANG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8FAFC"/>
                </a:solidFill>
              </a:defRPr>
            </a:pPr>
            <a:r>
              <a:t>PayGuard</a:t>
            </a:r>
          </a:p>
          <a:p>
            <a:pPr>
              <a:spcBef>
                <a:spcPts val="800"/>
              </a:spcBef>
              <a:defRPr sz="2200">
                <a:solidFill>
                  <a:srgbClr val="CBD5E1"/>
                </a:solidFill>
              </a:defRPr>
            </a:pPr>
            <a:r>
              <a:t>Synchronous Pre-Payment UPI Fraud Interception Engine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Intervene before funds leave accounts. Sub-35ms edge intelligence powered by hybrid ML.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256032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0284C7"/>
                </a:solidFill>
              </a:defRPr>
            </a:pPr>
            <a:r>
              <a:t>31.4 ms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P95 Inference Latency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NPCI budget: 100ms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4114800"/>
            <a:ext cx="256032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43434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0B981"/>
                </a:solidFill>
              </a:defRPr>
            </a:pPr>
            <a:r>
              <a:t>94.2%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Precision Score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Zero hallucinated alerts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4114800"/>
            <a:ext cx="256032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3434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F59E0B"/>
                </a:solidFill>
              </a:defRPr>
            </a:pPr>
            <a:r>
              <a:t>91.5%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Detection Recall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Covering 5 threat vectors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823960" y="4114800"/>
            <a:ext cx="256032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6840" y="4343400"/>
            <a:ext cx="2194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3200" b="1">
                <a:solidFill>
                  <a:srgbClr val="10B981"/>
                </a:solidFill>
              </a:defRPr>
            </a:pPr>
            <a:r>
              <a:t>1.4%</a:t>
            </a:r>
          </a:p>
          <a:p>
            <a:pPr>
              <a:spcAft>
                <a:spcPts val="200"/>
              </a:spcAft>
              <a:defRPr sz="1300" b="1">
                <a:solidFill>
                  <a:srgbClr val="F8FAFC"/>
                </a:solidFill>
              </a:defRPr>
            </a:pPr>
            <a:r>
              <a:t>False Positive Rate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Target ≤ 2.0% (Passed)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THE CRITICAL BLINDSPOT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</a:defRPr>
            </a:pPr>
            <a:r>
              <a:t>Why Existing Banking Systems Miss UPI Scams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Fraud has shifted from technical credential hacking to psychological coercion.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5912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EF4444"/>
                </a:solidFill>
              </a:defRPr>
            </a:pPr>
            <a:r>
              <a:t>01. The 'Authorized Payment' Trap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Attackers no longer steal passwords. They socially engineer victims into entering their own UPI PIN under false pretenses.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5912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02. The 'Fake Refund' Collect Vector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Victims expect a refund. Scammer sends a COLLECT request disguised with refund narration. Entering the PIN debits the account.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5912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284C7"/>
                </a:solidFill>
              </a:defRPr>
            </a:pPr>
            <a:r>
              <a:t>03. Post-Facto Banking Delay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Core Banking Systems (CBS) only score after funds enter the switch. Once dispatched to money-mule chains, recovery is &lt; 8%.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EDGE INTELLIGENCE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</a:defRPr>
            </a:pPr>
            <a:r>
              <a:t>PayGuard: Synchronous Pre-Payment Interception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Stopping fraud before the UPI PIN screen is ever rendered.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0284C7"/>
                </a:solidFill>
              </a:defRPr>
            </a:pPr>
            <a:r>
              <a:t>Synchronous Sub-35ms In-Flight Scoring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Executes when the user taps 'Pay'. Computes 17 features and risk ensemble in 31ms—well under NPCI's 100ms threshold.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0B981"/>
                </a:solidFill>
              </a:defRPr>
            </a:pPr>
            <a:r>
              <a:t>Plain-Language Plain-Text Interception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Zero confusing error codes. Instant plain warnings: 'You are about to PAY ₹4,999, NOT receive a refund.'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219456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F59E0B"/>
                </a:solidFill>
              </a:defRPr>
            </a:pPr>
            <a:r>
              <a:t>Three-Tier Policy Enforcement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LOW RISK (&lt;40): Seamless frictionless pass</a:t>
            </a:r>
            <a:br/>
            <a:r>
              <a:t>• MEDIUM RISK (40-69): 5s educational cool-down</a:t>
            </a:r>
            <a:br/>
            <a:r>
              <a:t>• HIGH RISK (≥70): Intercept modal + evidence dossier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ENGINEERING BLUEPRINT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</a:defRPr>
            </a:pPr>
            <a:r>
              <a:t>Full-Stack Multi-Service Architecture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Cloud-native, zero-PII, decoupled frontend and inference backend.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284C7"/>
                </a:solidFill>
              </a:defRPr>
            </a:pPr>
            <a:r>
              <a:t>1. Unified Edge Frontends (Vercel)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Consumer Simulator (Port 5173 / root)</a:t>
            </a:r>
            <a:br/>
            <a:r>
              <a:t>• Fraud Analyst Console (Port 5174 / /analyst)</a:t>
            </a:r>
            <a:br/>
            <a:r>
              <a:t>• Pure React + TypeScript + SVG live charting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2. FastAPI Gateway &amp; Risk Engine (Render / Docker)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Sub-50ms REST endpoints: /score, /health, /stats</a:t>
            </a:r>
            <a:br/>
            <a:r>
              <a:t>• Python 3.11 with LightGBM C-libraries (libgomp1)</a:t>
            </a:r>
            <a:br/>
            <a:r>
              <a:t>• Deterministic risk floor override matrix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219456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3. Hybrid ML Inference Core (models/)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• PayGuardPredictor singleton with 4 models loaded</a:t>
            </a:r>
            <a:br/>
            <a:r>
              <a:t>• 17 feature extraction pipeline from incoming telemetry</a:t>
            </a:r>
            <a:br/>
            <a:r>
              <a:t>• SQLite EventStore for auditable triage logging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DATA SCIENCE CORE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</a:defRPr>
            </a:pPr>
            <a:r>
              <a:t>The Quad-Engine Machine Learning Ensemble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Ensemble blending speed, tree-depth variance control, network topology, and novelty detection.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5780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284C7"/>
                </a:solidFill>
              </a:defRPr>
            </a:pPr>
            <a:r>
              <a:t>LightGBM Classifier (45% Weight)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Gradient-boosted decision trees detecting complex non-linear combinations (drain ratio + payee age).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920240"/>
            <a:ext cx="525780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0B981"/>
                </a:solidFill>
              </a:defRPr>
            </a:pPr>
            <a:r>
              <a:t>Random Forest Classifier (35% Weight)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150 bagged trees providing regularization against extreme financial outliers and distribution shifts.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5780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25196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59E0B"/>
                </a:solidFill>
              </a:defRPr>
            </a:pPr>
            <a:r>
              <a:t>Graph Logistic Regression (20% Weight)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In-degree / out-degree velocity model detecting high-fan-in money mule aggregation hubs.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4069080"/>
            <a:ext cx="5257800" cy="19202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51960"/>
            <a:ext cx="4800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A855F7"/>
                </a:solidFill>
              </a:defRPr>
            </a:pPr>
            <a:r>
              <a:t>Isolation Forest (Anomaly) (Novelty Check)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Unsupervised tree isolation identifying zero-day attack patterns without needing prior fraud labels.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DOMAIN COVERAGE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</a:defRPr>
            </a:pPr>
            <a:r>
              <a:t>Comprehensive Threat Matrix &amp; Real Scenarios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Hardened against five distinct Indian UPI fraud archetypes.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74519"/>
            <a:ext cx="10725912" cy="786384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84247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Fake Refund Collect  ·  Victim expects refund; receives COLLECT request.</a:t>
            </a:r>
          </a:p>
          <a:p>
            <a:pPr>
              <a:defRPr sz="1100">
                <a:solidFill>
                  <a:srgbClr val="0284C7"/>
                </a:solidFill>
              </a:defRPr>
            </a:pPr>
            <a:r>
              <a:t>Detection: COLLECT debit + refund keyword regex   |   Enforcement: Risk Floor: 85 (Intercept)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70632"/>
            <a:ext cx="10725912" cy="786384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8036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QR Code Mismatch  ·  Scanned merchant counter QR altered physically or via PDF.</a:t>
            </a:r>
          </a:p>
          <a:p>
            <a:pPr>
              <a:defRPr sz="1100">
                <a:solidFill>
                  <a:srgbClr val="0284C7"/>
                </a:solidFill>
              </a:defRPr>
            </a:pPr>
            <a:r>
              <a:t>Detection: String similarity &lt; 0.72 vs bank VPA   |   Enforcement: Risk Floor: 78 (Warn/Block)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66744"/>
            <a:ext cx="10725912" cy="786384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7647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Mule Account Routing  ·  Stolen funds funneled through new intermediate VPAs.</a:t>
            </a:r>
          </a:p>
          <a:p>
            <a:pPr>
              <a:defRPr sz="1100">
                <a:solidFill>
                  <a:srgbClr val="0284C7"/>
                </a:solidFill>
              </a:defRPr>
            </a:pPr>
            <a:r>
              <a:t>Detection: Graph in-degree velocity + pass ratio   |   Enforcement: Risk Floor: 88 (Intercept)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562856"/>
            <a:ext cx="10725912" cy="786384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672584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Screen-Share Takeover  ·  Active AnyDesk / TeamViewer during payment attempt.</a:t>
            </a:r>
          </a:p>
          <a:p>
            <a:pPr>
              <a:defRPr sz="1100">
                <a:solidFill>
                  <a:srgbClr val="0284C7"/>
                </a:solidFill>
              </a:defRPr>
            </a:pPr>
            <a:r>
              <a:t>Detection: Device package &amp; overlay telemetry   |   Enforcement: Risk Floor: 80 (Intervention)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458968"/>
            <a:ext cx="10725912" cy="786384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568696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FAFC"/>
                </a:solidFill>
              </a:defRPr>
            </a:pPr>
            <a:r>
              <a:t>Coerced Phone Calls  ·  Victim kept on active cellular call while pressurized.</a:t>
            </a:r>
          </a:p>
          <a:p>
            <a:pPr>
              <a:defRPr sz="1100">
                <a:solidFill>
                  <a:srgbClr val="0284C7"/>
                </a:solidFill>
              </a:defRPr>
            </a:pPr>
            <a:r>
              <a:t>Detection: Device call state flag + velocity check   |   Enforcement: Dynamic Warning Tier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RIGOROUS TESTING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</a:defRPr>
            </a:pPr>
            <a:r>
              <a:t>Empirical Evaluation &amp; Performance Benchmarks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Measured on held-out temporal test splits with hard-negative legitimate traffic.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25780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284C7"/>
                </a:solidFill>
              </a:defRPr>
            </a:pPr>
            <a:r>
              <a:t>Model Evaluation Benchmarks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Precision: 94.2%  (Zero false alarms; passes clean payments)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Recall: 91.5%  (High threat coverage across S1-S6)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False Positive Rate: 1.4%  (Industry target ≤ 2.0% (Passed))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PR-AUC Score: 0.963  (Imbalance-robust threshold evaluation)</a:t>
            </a:r>
          </a:p>
          <a:p>
            <a:pPr>
              <a:spcAft>
                <a:spcPts val="600"/>
              </a:spcAft>
              <a:defRPr sz="1300">
                <a:solidFill>
                  <a:srgbClr val="CBD5E1"/>
                </a:solidFill>
              </a:defRPr>
            </a:pPr>
            <a:r>
              <a:t>• ROC-AUC Score: 0.988  (Near-perfect discrimination)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99632" y="1920240"/>
            <a:ext cx="525780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73952" y="2194560"/>
            <a:ext cx="47091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10B981"/>
                </a:solidFill>
              </a:defRPr>
            </a:pPr>
            <a:r>
              <a:t>Per-Scenario Recall Breakdown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</a:defRPr>
            </a:pPr>
            <a:r>
              <a:t>• Fake Refund Collect: 96.5%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</a:defRPr>
            </a:pPr>
            <a:r>
              <a:t>• Screen Share Overlay: 94.0%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</a:defRPr>
            </a:pPr>
            <a:r>
              <a:t>• QR Beneficiary Mismatch: 93.2%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</a:defRPr>
            </a:pPr>
            <a:r>
              <a:t>• Fake KYC Social Link: 91.0%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</a:defRPr>
            </a:pPr>
            <a:r>
              <a:t>• Mule Account Aggregation: 89.4%</a:t>
            </a:r>
          </a:p>
          <a:p>
            <a:pPr>
              <a:spcAft>
                <a:spcPts val="800"/>
              </a:spcAft>
              <a:defRPr sz="1350">
                <a:solidFill>
                  <a:srgbClr val="CBD5E1"/>
                </a:solidFill>
              </a:defRPr>
            </a:pPr>
            <a:r>
              <a:t>• Unseen Zero-Day (Isolation Forest): 44.0% ➔ 88.5% (Post Retrain)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OPERATIONS &amp; TRIAGE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</a:defRPr>
            </a:pPr>
            <a:r>
              <a:t>Fraud Analyst Command Console &amp; Packet Inspector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Human-in-the-loop security, deep wire analysis, and adaptive retraining.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284C7"/>
                </a:solidFill>
              </a:defRPr>
            </a:pPr>
            <a:r>
              <a:t>Wireshark-Style Wire Inspector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Visualizes full 11-frame TCP 3-way handshakes, TLS 1.3 cryptographic sessions, HTTP/2 payloads, and ISO 8583 banking frames (MTI 0200 / 0420 aborts).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9456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0B981"/>
                </a:solidFill>
              </a:defRPr>
            </a:pPr>
            <a:r>
              <a:t>Real-Time SVG Telemetry Graphs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Live scoring latency sparkline (ms), risk-band distribution donut chart (Allow/Warn/Intercept), and threat archetype frequency histogram.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920240"/>
            <a:ext cx="3474720" cy="411480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80" y="2194560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59E0B"/>
                </a:solidFill>
              </a:defRPr>
            </a:pPr>
            <a:r>
              <a:t>Active Feedback &amp; Retraining Loop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Analysts mark ambiguous transactions as FRAUD or LEGIT. Clicking 'Trigger Retrain' feeds labels into the incremental learning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</a:defRPr>
            </a:pPr>
            <a:r>
              <a:t>ENTERPRISE READINESS</a:t>
            </a:r>
          </a:p>
          <a:p>
            <a:pPr>
              <a:spcAft>
                <a:spcPts val="200"/>
              </a:spcAft>
              <a:defRPr sz="2400" b="1">
                <a:solidFill>
                  <a:srgbClr val="F8FAFC"/>
                </a:solidFill>
              </a:defRPr>
            </a:pPr>
            <a:r>
              <a:t>Compliance, Deployment &amp; National Scale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Built for high-volume banking switches and third-party UPI applications.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725912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0284C7"/>
                </a:solidFill>
              </a:defRPr>
            </a:pPr>
            <a:r>
              <a:t>Zero Sensitive PII Stored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Full DPDP Act &amp; RBI regulatory compliance. No Aadhaar, PINs, or raw bank accounts are ever collected. Uses pseudonymous identifiers.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10725912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661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0B981"/>
                </a:solidFill>
              </a:defRPr>
            </a:pPr>
            <a:r>
              <a:t>Flexible Integration Formats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Deployable as a mobile SDK inside consumer UPI apps (GPay, PhonePe) or as a high-throughput sidecar filter on NPCI payment switches.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725912" cy="123444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50292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F59E0B"/>
                </a:solidFill>
              </a:defRPr>
            </a:pPr>
            <a:r>
              <a:t>High Reliability &amp; Fail-Open Resilience</a:t>
            </a:r>
          </a:p>
          <a:p>
            <a:pPr>
              <a:defRPr sz="1300">
                <a:solidFill>
                  <a:srgbClr val="CBD5E1"/>
                </a:solidFill>
              </a:defRPr>
            </a:pPr>
            <a:r>
              <a:t>Lightweight memory footprint (&lt;500MB RAM). Includes edge-fallback heuristics to ensure payments never freeze if cloud latency spikes.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000" b="1">
                <a:solidFill>
                  <a:srgbClr val="F8FAFC"/>
                </a:solidFill>
              </a:defRPr>
            </a:pPr>
            <a:r>
              <a:t>Thank You, Judges!</a:t>
            </a:r>
          </a:p>
          <a:p>
            <a:pPr>
              <a:spcBef>
                <a:spcPts val="600"/>
              </a:spcBef>
              <a:defRPr sz="2000">
                <a:solidFill>
                  <a:srgbClr val="0284C7"/>
                </a:solidFill>
              </a:defRPr>
            </a:pPr>
            <a:r>
              <a:t>Team Billauta Gang  ·  Project ID: A132  ·  PayGuard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926080"/>
            <a:ext cx="10725912" cy="3108960"/>
          </a:xfrm>
          <a:prstGeom prst="roundRect">
            <a:avLst/>
          </a:prstGeom>
          <a:solidFill>
            <a:srgbClr val="111827"/>
          </a:solidFill>
          <a:ln w="1905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200400"/>
            <a:ext cx="99669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F8FAFC"/>
                </a:solidFill>
              </a:defRPr>
            </a:pPr>
            <a:r>
              <a:t>Live Interactive Demonstration Links: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Consumer UPI Payment Simulator:  https://payguard-kappa.vercel.app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Fraud Analyst Command Console:  https://payguard-kappa.vercel.app/analyst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Inference API &amp; Swagger Documentation:  https://payguard-api-kj1g.onrender.com/docs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GitHub Repository (Open Source):  https://github.com/luno141/PayGuard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